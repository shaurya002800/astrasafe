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2175b3d094f37" /><Relationship Type="http://schemas.openxmlformats.org/officeDocument/2006/relationships/extended-properties" Target="/docProps/app.xml" Id="R4f3580fabea84cbc" /><Relationship Type="http://schemas.openxmlformats.org/officeDocument/2006/relationships/officeDocument" Target="/ppt/presentation.xml" Id="Rac59d773f424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cf9398f1c4576"/>
  </p:sldMasterIdLst>
  <p:notesMasterIdLst>
    <p:notesMasterId xmlns:r="http://schemas.openxmlformats.org/officeDocument/2006/relationships" r:id="R80672d034f634d10"/>
  </p:notesMasterIdLst>
  <p:sldIdLst>
    <p:sldId xmlns:r="http://schemas.openxmlformats.org/officeDocument/2006/relationships" id="256" r:id="R3d439c64a0d14b84"/>
    <p:sldId xmlns:r="http://schemas.openxmlformats.org/officeDocument/2006/relationships" id="257" r:id="Rba4977b2e4e24592"/>
    <p:sldId xmlns:r="http://schemas.openxmlformats.org/officeDocument/2006/relationships" id="258" r:id="Re0a616bbcdcc4f84"/>
    <p:sldId xmlns:r="http://schemas.openxmlformats.org/officeDocument/2006/relationships" id="259" r:id="Rfc0170d5685a4cb1"/>
    <p:sldId xmlns:r="http://schemas.openxmlformats.org/officeDocument/2006/relationships" id="260" r:id="R13303d16ac594dc9"/>
    <p:sldId xmlns:r="http://schemas.openxmlformats.org/officeDocument/2006/relationships" id="261" r:id="R13580fe6ac654694"/>
    <p:sldId xmlns:r="http://schemas.openxmlformats.org/officeDocument/2006/relationships" id="262" r:id="R63111942979647b7"/>
    <p:sldId xmlns:r="http://schemas.openxmlformats.org/officeDocument/2006/relationships" id="263" r:id="R92b6b79b0b884c7f"/>
    <p:sldId xmlns:r="http://schemas.openxmlformats.org/officeDocument/2006/relationships" id="264" r:id="R8741f6b6ed8945a6"/>
    <p:sldId xmlns:r="http://schemas.openxmlformats.org/officeDocument/2006/relationships" id="265" r:id="Rb64a01c36eb24988"/>
    <p:sldId xmlns:r="http://schemas.openxmlformats.org/officeDocument/2006/relationships" id="266" r:id="R3e209eed78484a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e0d57c2bb54b9e" /><Relationship Type="http://schemas.openxmlformats.org/officeDocument/2006/relationships/slideMaster" Target="/ppt/slideMasters/slideMaster1.xml" Id="Rbd1cf9398f1c4576" /><Relationship Type="http://schemas.openxmlformats.org/officeDocument/2006/relationships/notesMaster" Target="/ppt/notesMasters/notesMaster1.xml" Id="R80672d034f634d10" /><Relationship Type="http://schemas.openxmlformats.org/officeDocument/2006/relationships/presProps" Target="/ppt/presProps.xml" Id="R9113948f4d594122" /><Relationship Type="http://schemas.openxmlformats.org/officeDocument/2006/relationships/tableStyles" Target="/ppt/tableStyles.xml" Id="R959e1a827b3046b2" /><Relationship Type="http://schemas.openxmlformats.org/officeDocument/2006/relationships/slide" Target="/ppt/slides/slide1.xml" Id="R3d439c64a0d14b84" /><Relationship Type="http://schemas.openxmlformats.org/officeDocument/2006/relationships/slide" Target="/ppt/slides/slide2.xml" Id="Rba4977b2e4e24592" /><Relationship Type="http://schemas.openxmlformats.org/officeDocument/2006/relationships/slide" Target="/ppt/slides/slide3.xml" Id="Re0a616bbcdcc4f84" /><Relationship Type="http://schemas.openxmlformats.org/officeDocument/2006/relationships/slide" Target="/ppt/slides/slide4.xml" Id="Rfc0170d5685a4cb1" /><Relationship Type="http://schemas.openxmlformats.org/officeDocument/2006/relationships/slide" Target="/ppt/slides/slide5.xml" Id="R13303d16ac594dc9" /><Relationship Type="http://schemas.openxmlformats.org/officeDocument/2006/relationships/slide" Target="/ppt/slides/slide6.xml" Id="R13580fe6ac654694" /><Relationship Type="http://schemas.openxmlformats.org/officeDocument/2006/relationships/slide" Target="/ppt/slides/slide7.xml" Id="R63111942979647b7" /><Relationship Type="http://schemas.openxmlformats.org/officeDocument/2006/relationships/slide" Target="/ppt/slides/slide8.xml" Id="R92b6b79b0b884c7f" /><Relationship Type="http://schemas.openxmlformats.org/officeDocument/2006/relationships/slide" Target="/ppt/slides/slide9.xml" Id="R8741f6b6ed8945a6" /><Relationship Type="http://schemas.openxmlformats.org/officeDocument/2006/relationships/slide" Target="/ppt/slides/slide10.xml" Id="Rb64a01c36eb24988" /><Relationship Type="http://schemas.openxmlformats.org/officeDocument/2006/relationships/slide" Target="/ppt/slides/slide11.xml" Id="R3e209eed7848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fd49519c7c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ca68dc44f4426" /><Relationship Type="http://schemas.openxmlformats.org/officeDocument/2006/relationships/notesMaster" Target="/ppt/notesMasters/notesMaster1.xml" Id="R2e0e5f799a24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a138f172e4e63" /><Relationship Type="http://schemas.openxmlformats.org/officeDocument/2006/relationships/notesMaster" Target="/ppt/notesMasters/notesMaster1.xml" Id="R047e3f3faf7c4f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0a038834a4dd2" /><Relationship Type="http://schemas.openxmlformats.org/officeDocument/2006/relationships/notesMaster" Target="/ppt/notesMasters/notesMaster1.xml" Id="R676f95251d90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d60c532b44d5f" /><Relationship Type="http://schemas.openxmlformats.org/officeDocument/2006/relationships/notesMaster" Target="/ppt/notesMasters/notesMaster1.xml" Id="R1b5c152938de40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bcb27464e944f6" /><Relationship Type="http://schemas.openxmlformats.org/officeDocument/2006/relationships/notesMaster" Target="/ppt/notesMasters/notesMaster1.xml" Id="R2d4934ddaa2e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fbeb1db4d544f3" /><Relationship Type="http://schemas.openxmlformats.org/officeDocument/2006/relationships/notesMaster" Target="/ppt/notesMasters/notesMaster1.xml" Id="R570f3052267d43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d161753f0478a" /><Relationship Type="http://schemas.openxmlformats.org/officeDocument/2006/relationships/notesMaster" Target="/ppt/notesMasters/notesMaster1.xml" Id="R920f8fa0190d49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dfc017d15413b" /><Relationship Type="http://schemas.openxmlformats.org/officeDocument/2006/relationships/notesMaster" Target="/ppt/notesMasters/notesMaster1.xml" Id="R2cd9f18b129a47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f30f2d45df4687" /><Relationship Type="http://schemas.openxmlformats.org/officeDocument/2006/relationships/notesMaster" Target="/ppt/notesMasters/notesMaster1.xml" Id="R0453827088294e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ed7aa228d44be0" /><Relationship Type="http://schemas.openxmlformats.org/officeDocument/2006/relationships/notesMaster" Target="/ppt/notesMasters/notesMaster1.xml" Id="R54e5443a99b44a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0dc63e58d84df1" /><Relationship Type="http://schemas.openxmlformats.org/officeDocument/2006/relationships/notesMaster" Target="/ppt/notesMasters/notesMaster1.xml" Id="Re0367003790a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e874f8d574e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fe833124b42f1" /><Relationship Type="http://schemas.openxmlformats.org/officeDocument/2006/relationships/slideLayout" Target="/ppt/slideLayouts/slideLayout1.xml" Id="R71034c0147d145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34c0147d145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32c63c2e54f5b" /><Relationship Type="http://schemas.openxmlformats.org/officeDocument/2006/relationships/notesSlide" Target="/ppt/notesSlides/notesSlide1.xml" Id="R297994bc734e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b47723a8644db" /><Relationship Type="http://schemas.openxmlformats.org/officeDocument/2006/relationships/notesSlide" Target="/ppt/notesSlides/notesSlide2.xml" Id="R7578a35166d143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a16ecb83f4412" /><Relationship Type="http://schemas.openxmlformats.org/officeDocument/2006/relationships/notesSlide" Target="/ppt/notesSlides/notesSlide3.xml" Id="Ra927bff0ab0f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0c042ff1d49aa" /><Relationship Type="http://schemas.openxmlformats.org/officeDocument/2006/relationships/image" Target="/ppt/media/image.jpeg" Id="R7acec144381b4047" /><Relationship Type="http://schemas.openxmlformats.org/officeDocument/2006/relationships/notesSlide" Target="/ppt/notesSlides/notesSlide4.xml" Id="R5aa95407c31a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6562a15ed4500" /><Relationship Type="http://schemas.openxmlformats.org/officeDocument/2006/relationships/notesSlide" Target="/ppt/notesSlides/notesSlide5.xml" Id="Re4cd081f0b7e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d4064e5b347ea" /><Relationship Type="http://schemas.openxmlformats.org/officeDocument/2006/relationships/chart" Target="/ppt/slides/charts/chart1.xml" Id="Rfd02eb1395d1423a" /><Relationship Type="http://schemas.openxmlformats.org/officeDocument/2006/relationships/notesSlide" Target="/ppt/notesSlides/notesSlide6.xml" Id="R970226beaacb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f0b813f174077" /><Relationship Type="http://schemas.openxmlformats.org/officeDocument/2006/relationships/notesSlide" Target="/ppt/notesSlides/notesSlide7.xml" Id="R4d47f4602adf45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e3ab4a46347ec" /><Relationship Type="http://schemas.openxmlformats.org/officeDocument/2006/relationships/notesSlide" Target="/ppt/notesSlides/notesSlide8.xml" Id="R8928300ba98a40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f78dc2aa465c" /><Relationship Type="http://schemas.openxmlformats.org/officeDocument/2006/relationships/notesSlide" Target="/ppt/notesSlides/notesSlide9.xml" Id="R3eae78ebae5d4f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c0e7afed744d1" /><Relationship Type="http://schemas.openxmlformats.org/officeDocument/2006/relationships/notesSlide" Target="/ppt/notesSlides/notesSlide10.xml" Id="Rad81041911d445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2c4e1c7a4197" /><Relationship Type="http://schemas.openxmlformats.org/officeDocument/2006/relationships/notesSlide" Target="/ppt/notesSlides/notesSlide11.xml" Id="Rba2c67e587c140b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No action</c:v>
          </c:tx>
          <c:spPr>
            <a:ln xmlns:a="http://schemas.openxmlformats.org/drawingml/2006/main" w="38100">
              <a:solidFill>
                <a:srgbClr val="D6534D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Now</c:v>
              </c:pt>
              <c:pt idx="1">
                <c:v>+2 min</c:v>
              </c:pt>
              <c:pt idx="2">
                <c:v>+4 min</c:v>
              </c:pt>
              <c:pt idx="3">
                <c:v>+7 min</c:v>
              </c:pt>
              <c:pt idx="4">
                <c:v>+10 min</c:v>
              </c:pt>
            </c:strLit>
          </c:cat>
          <c:val>
            <c:numLit>
              <c:formatCode>General</c:formatCode>
              <c:ptCount val="5"/>
              <c:pt idx="0">
                <c:v>86</c:v>
              </c:pt>
              <c:pt idx="1">
                <c:v>90</c:v>
              </c:pt>
              <c:pt idx="2">
                <c:v>95</c:v>
              </c:pt>
              <c:pt idx="3">
                <c:v>98</c:v>
              </c:pt>
              <c:pt idx="4">
                <c:v>100</c:v>
              </c:pt>
            </c:numLit>
          </c:val>
        </c:ser>
        <c:ser>
          <c:idx val="1"/>
          <c:order val="1"/>
          <c:tx>
            <c:v>Recommended action</c:v>
          </c:tx>
          <c:spPr>
            <a:ln xmlns:a="http://schemas.openxmlformats.org/drawingml/2006/main" w="38100">
              <a:solidFill>
                <a:srgbClr val="2F9B65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Now</c:v>
              </c:pt>
              <c:pt idx="1">
                <c:v>+2 min</c:v>
              </c:pt>
              <c:pt idx="2">
                <c:v>+4 min</c:v>
              </c:pt>
              <c:pt idx="3">
                <c:v>+7 min</c:v>
              </c:pt>
              <c:pt idx="4">
                <c:v>+10 min</c:v>
              </c:pt>
            </c:strLit>
          </c:cat>
          <c:val>
            <c:numLit>
              <c:formatCode>General</c:formatCode>
              <c:ptCount val="5"/>
              <c:pt idx="0">
                <c:v>86</c:v>
              </c:pt>
              <c:pt idx="1">
                <c:v>65</c:v>
              </c:pt>
              <c:pt idx="2">
                <c:v>42</c:v>
              </c:pt>
              <c:pt idx="3">
                <c:v>18</c:v>
              </c:pt>
              <c:pt idx="4">
                <c:v>18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F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23C7E-1D08-4363-84A7-8FFA2D1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2" name="text-58-46">
            <a:extLst xmlns:a="http://schemas.openxmlformats.org/drawingml/2006/main">
              <a:ext uri="{FF2B5EF4-FFF2-40B4-BE49-F238E27FC236}">
                <a16:creationId xmlns:a16="http://schemas.microsoft.com/office/drawing/2014/main" id="{F6334767-72F9-4A93-883B-113DF137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ET AI HACKATHON 2.0</a:t>
            </a:r>
          </a:p>
        </p:txBody>
      </p:sp>
      <p:sp>
        <p:nvSpPr>
          <p:cNvPr id="3" name="text-58-164">
            <a:extLst xmlns:a="http://schemas.openxmlformats.org/drawingml/2006/main">
              <a:ext uri="{FF2B5EF4-FFF2-40B4-BE49-F238E27FC236}">
                <a16:creationId xmlns:a16="http://schemas.microsoft.com/office/drawing/2014/main" id="{713BB735-A4F4-42C9-ACFB-3046D51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429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AI</a:t>
            </a:r>
          </a:p>
        </p:txBody>
      </p:sp>
      <p:sp>
        <p:nvSpPr>
          <p:cNvPr id="4" name="text-58-302">
            <a:extLst xmlns:a="http://schemas.openxmlformats.org/drawingml/2006/main">
              <a:ext uri="{FF2B5EF4-FFF2-40B4-BE49-F238E27FC236}">
                <a16:creationId xmlns:a16="http://schemas.microsoft.com/office/drawing/2014/main" id="{3D27A383-C282-4180-8D9C-F314944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7334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The causal safety twin that detects an accident pathway before the alarm exists.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552450" y="4648200"/>
            <a:ext cx="2381250" cy="476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6534D"/>
            </a:solidFill>
            <a:prstDash val="solid"/>
          </a:ln>
        </p:spPr>
      </p:cxnSp>
      <p:sp>
        <p:nvSpPr>
          <p:cNvPr id="6" name="text-58-514">
            <a:extLst xmlns:a="http://schemas.openxmlformats.org/drawingml/2006/main">
              <a:ext uri="{FF2B5EF4-FFF2-40B4-BE49-F238E27FC236}">
                <a16:creationId xmlns:a16="http://schemas.microsoft.com/office/drawing/2014/main" id="{48B53A27-BB13-4683-BE3E-2AF08A4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781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21 minutes earlier. 82 points of projected risk removed.</a:t>
            </a:r>
          </a:p>
        </p:txBody>
      </p:sp>
      <p:sp>
        <p:nvSpPr>
          <p:cNvPr id="7" name="text-58-628">
            <a:extLst xmlns:a="http://schemas.openxmlformats.org/drawingml/2006/main">
              <a:ext uri="{FF2B5EF4-FFF2-40B4-BE49-F238E27FC236}">
                <a16:creationId xmlns:a16="http://schemas.microsoft.com/office/drawing/2014/main" id="{5B7DE87F-63EE-4A6A-81B6-7E5A58EA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support for zero-harm industrial operations</a:t>
            </a:r>
          </a:p>
        </p:txBody>
      </p:sp>
      <p:sp>
        <p:nvSpPr>
          <p:cNvPr id="8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6447D43D-F6EC-496E-975E-DEA6788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0017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5596D269-EB09-4639-A488-AF75B60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THE GAP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C63C312A-4C50-4CE3-A7E1-84827D32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Accidents form between systems, not inside one sensor.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A8F5BDC6-121D-47E9-9397-DF328D63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text-42-172">
            <a:extLst xmlns:a="http://schemas.openxmlformats.org/drawingml/2006/main">
              <a:ext uri="{FF2B5EF4-FFF2-40B4-BE49-F238E27FC236}">
                <a16:creationId xmlns:a16="http://schemas.microsoft.com/office/drawing/2014/main" id="{BDAAB5D5-4E28-4821-9440-41575A75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191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0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 gas reading can be below threshold while the surrounding plant context is already unsafe.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B3E9B-8CBE-4828-B600-93BF875E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571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6" name="text-62-322">
            <a:extLst xmlns:a="http://schemas.openxmlformats.org/drawingml/2006/main">
              <a:ext uri="{FF2B5EF4-FFF2-40B4-BE49-F238E27FC236}">
                <a16:creationId xmlns:a16="http://schemas.microsoft.com/office/drawing/2014/main" id="{EA4D5B51-1C72-4FAE-81F1-B139560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text-62-378">
            <a:extLst xmlns:a="http://schemas.openxmlformats.org/drawingml/2006/main">
              <a:ext uri="{FF2B5EF4-FFF2-40B4-BE49-F238E27FC236}">
                <a16:creationId xmlns:a16="http://schemas.microsoft.com/office/drawing/2014/main" id="{DC2AF010-3F4E-44CC-B856-807FB323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19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Rising gas trend</a:t>
            </a:r>
          </a:p>
        </p:txBody>
      </p:sp>
      <p:sp>
        <p:nvSpPr>
          <p:cNvPr id="8" name="text-62-456">
            <a:extLst xmlns:a="http://schemas.openxmlformats.org/drawingml/2006/main">
              <a:ext uri="{FF2B5EF4-FFF2-40B4-BE49-F238E27FC236}">
                <a16:creationId xmlns:a16="http://schemas.microsoft.com/office/drawing/2014/main" id="{81B63180-4410-4456-8256-269EBC8D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Still below the configured alarm threshold.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6E237-3852-4746-910D-CA990D6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571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0" name="text-362-322">
            <a:extLst xmlns:a="http://schemas.openxmlformats.org/drawingml/2006/main">
              <a:ext uri="{FF2B5EF4-FFF2-40B4-BE49-F238E27FC236}">
                <a16:creationId xmlns:a16="http://schemas.microsoft.com/office/drawing/2014/main" id="{83045EBA-30D9-488F-9908-76732EE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670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text-362-378">
            <a:extLst xmlns:a="http://schemas.openxmlformats.org/drawingml/2006/main">
              <a:ext uri="{FF2B5EF4-FFF2-40B4-BE49-F238E27FC236}">
                <a16:creationId xmlns:a16="http://schemas.microsoft.com/office/drawing/2014/main" id="{22365557-3971-4A0E-A34C-36FE3F82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19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Active hot work</a:t>
            </a:r>
          </a:p>
        </p:txBody>
      </p:sp>
      <p:sp>
        <p:nvSpPr>
          <p:cNvPr id="12" name="text-362-456">
            <a:extLst xmlns:a="http://schemas.openxmlformats.org/drawingml/2006/main">
              <a:ext uri="{FF2B5EF4-FFF2-40B4-BE49-F238E27FC236}">
                <a16:creationId xmlns:a16="http://schemas.microsoft.com/office/drawing/2014/main" id="{8FF2F5F1-7A94-44F1-8A3D-90A00FE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434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A valid permit becomes unsafe as context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4B780-14AB-4A5A-9340-956FC88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571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4" name="text-662-322">
            <a:extLst xmlns:a="http://schemas.openxmlformats.org/drawingml/2006/main">
              <a:ext uri="{FF2B5EF4-FFF2-40B4-BE49-F238E27FC236}">
                <a16:creationId xmlns:a16="http://schemas.microsoft.com/office/drawing/2014/main" id="{BF0682BE-9C6D-4AEE-B449-09C52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text-662-378">
            <a:extLst xmlns:a="http://schemas.openxmlformats.org/drawingml/2006/main">
              <a:ext uri="{FF2B5EF4-FFF2-40B4-BE49-F238E27FC236}">
                <a16:creationId xmlns:a16="http://schemas.microsoft.com/office/drawing/2014/main" id="{757419F0-6095-4623-95EA-1453FDE1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219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Degraded ventilation</a:t>
            </a:r>
          </a:p>
        </p:txBody>
      </p:sp>
      <p:sp>
        <p:nvSpPr>
          <p:cNvPr id="16" name="text-662-456">
            <a:extLst xmlns:a="http://schemas.openxmlformats.org/drawingml/2006/main">
              <a:ext uri="{FF2B5EF4-FFF2-40B4-BE49-F238E27FC236}">
                <a16:creationId xmlns:a16="http://schemas.microsoft.com/office/drawing/2014/main" id="{5CD535FE-1B39-47E0-909B-969A233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Maintenance delay removes a critical safety margin.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CFFFF-4107-4680-82E3-ED46B7B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571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E6A6A2"/>
            </a:solidFill>
            <a:prstDash val="solid"/>
          </a:ln>
        </p:spPr>
      </p:sp>
      <p:sp>
        <p:nvSpPr>
          <p:cNvPr id="18" name="text-962-322">
            <a:extLst xmlns:a="http://schemas.openxmlformats.org/drawingml/2006/main">
              <a:ext uri="{FF2B5EF4-FFF2-40B4-BE49-F238E27FC236}">
                <a16:creationId xmlns:a16="http://schemas.microsoft.com/office/drawing/2014/main" id="{9BA83B94-15F3-4512-943B-4646F851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text-962-378">
            <a:extLst xmlns:a="http://schemas.openxmlformats.org/drawingml/2006/main">
              <a:ext uri="{FF2B5EF4-FFF2-40B4-BE49-F238E27FC236}">
                <a16:creationId xmlns:a16="http://schemas.microsoft.com/office/drawing/2014/main" id="{43682A41-88E8-4E23-9701-9ADE425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19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Worker exposure</a:t>
            </a:r>
          </a:p>
        </p:txBody>
      </p:sp>
      <p:sp>
        <p:nvSpPr>
          <p:cNvPr id="20" name="text-962-456">
            <a:extLst xmlns:a="http://schemas.openxmlformats.org/drawingml/2006/main">
              <a:ext uri="{FF2B5EF4-FFF2-40B4-BE49-F238E27FC236}">
                <a16:creationId xmlns:a16="http://schemas.microsoft.com/office/drawing/2014/main" id="{DEAE194A-BF61-4A4D-817B-FF5AC2E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2152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Three people enter the affected zone during handover.</a:t>
            </a:r>
          </a:p>
        </p:txBody>
      </p:sp>
    </p:spTree>
    <p:extLst>
      <p:ext uri="{BB962C8B-B14F-4D97-AF65-F5344CB8AC3E}">
        <p14:creationId xmlns:p14="http://schemas.microsoft.com/office/powerpoint/2010/main" val="597336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37EBF55A-BBFD-43C0-911B-C226C0E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REPLAY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1DB201AF-9B6C-4060-B13B-8C981F0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31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The accident pathway becomes visible one weak signal at a time.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A1701B34-7DB6-41E1-8797-7EA8A244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00100" y="3295650"/>
            <a:ext cx="103822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61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248F-BA74-48B4-B3EE-B1FA967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59C87-A9A3-46F5-A4A9-C054E300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F8668-F1D8-4818-97DB-2488722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A9D85-8DC6-4E4B-BFDD-573A07D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3F8C5-392C-4355-8991-3534E68D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6D90F-7531-42A2-8B6F-691EE9D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34D"/>
          </a:solidFill>
        </p:spPr>
      </p:sp>
      <p:sp>
        <p:nvSpPr>
          <p:cNvPr id="11" name="text-48-282">
            <a:extLst xmlns:a="http://schemas.openxmlformats.org/drawingml/2006/main">
              <a:ext uri="{FF2B5EF4-FFF2-40B4-BE49-F238E27FC236}">
                <a16:creationId xmlns:a16="http://schemas.microsoft.com/office/drawing/2014/main" id="{BBAE3A0B-3676-401D-8B2D-A9874A2F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10:30</a:t>
            </a:r>
          </a:p>
        </p:txBody>
      </p:sp>
      <p:sp>
        <p:nvSpPr>
          <p:cNvPr id="12" name="text-48-390">
            <a:extLst xmlns:a="http://schemas.openxmlformats.org/drawingml/2006/main">
              <a:ext uri="{FF2B5EF4-FFF2-40B4-BE49-F238E27FC236}">
                <a16:creationId xmlns:a16="http://schemas.microsoft.com/office/drawing/2014/main" id="{31AB810D-4496-4E22-AB1D-42857BAD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Normal</a:t>
            </a:r>
          </a:p>
        </p:txBody>
      </p:sp>
      <p:sp>
        <p:nvSpPr>
          <p:cNvPr id="13" name="text-48-436">
            <a:extLst xmlns:a="http://schemas.openxmlformats.org/drawingml/2006/main">
              <a:ext uri="{FF2B5EF4-FFF2-40B4-BE49-F238E27FC236}">
                <a16:creationId xmlns:a16="http://schemas.microsoft.com/office/drawing/2014/main" id="{52BF401D-3FC5-4A87-9FC2-CCFD3921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Plant context is quiet.</a:t>
            </a:r>
          </a:p>
        </p:txBody>
      </p:sp>
      <p:sp>
        <p:nvSpPr>
          <p:cNvPr id="14" name="text-252-282">
            <a:extLst xmlns:a="http://schemas.openxmlformats.org/drawingml/2006/main">
              <a:ext uri="{FF2B5EF4-FFF2-40B4-BE49-F238E27FC236}">
                <a16:creationId xmlns:a16="http://schemas.microsoft.com/office/drawing/2014/main" id="{46C078B0-D196-41C1-8D8A-86B794C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10:34</a:t>
            </a:r>
          </a:p>
        </p:txBody>
      </p:sp>
      <p:sp>
        <p:nvSpPr>
          <p:cNvPr id="15" name="text-252-390">
            <a:extLst xmlns:a="http://schemas.openxmlformats.org/drawingml/2006/main">
              <a:ext uri="{FF2B5EF4-FFF2-40B4-BE49-F238E27FC236}">
                <a16:creationId xmlns:a16="http://schemas.microsoft.com/office/drawing/2014/main" id="{DE832CD9-EBE5-46CE-A204-BAFA214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Gas rises</a:t>
            </a:r>
          </a:p>
        </p:txBody>
      </p:sp>
      <p:sp>
        <p:nvSpPr>
          <p:cNvPr id="16" name="text-252-436">
            <a:extLst xmlns:a="http://schemas.openxmlformats.org/drawingml/2006/main">
              <a:ext uri="{FF2B5EF4-FFF2-40B4-BE49-F238E27FC236}">
                <a16:creationId xmlns:a16="http://schemas.microsoft.com/office/drawing/2014/main" id="{3839D380-AA2B-45C1-920A-444A239C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Below 100 ppm.</a:t>
            </a:r>
          </a:p>
        </p:txBody>
      </p:sp>
      <p:sp>
        <p:nvSpPr>
          <p:cNvPr id="17" name="text-456-282">
            <a:extLst xmlns:a="http://schemas.openxmlformats.org/drawingml/2006/main">
              <a:ext uri="{FF2B5EF4-FFF2-40B4-BE49-F238E27FC236}">
                <a16:creationId xmlns:a16="http://schemas.microsoft.com/office/drawing/2014/main" id="{9452980C-9CA4-4AA8-BBE9-6C52829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10:37</a:t>
            </a:r>
          </a:p>
        </p:txBody>
      </p:sp>
      <p:sp>
        <p:nvSpPr>
          <p:cNvPr id="18" name="text-456-390">
            <a:extLst xmlns:a="http://schemas.openxmlformats.org/drawingml/2006/main">
              <a:ext uri="{FF2B5EF4-FFF2-40B4-BE49-F238E27FC236}">
                <a16:creationId xmlns:a16="http://schemas.microsoft.com/office/drawing/2014/main" id="{BE755281-6143-483B-936A-B2C03EE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Fan delayed</a:t>
            </a:r>
          </a:p>
        </p:txBody>
      </p:sp>
      <p:sp>
        <p:nvSpPr>
          <p:cNvPr id="19" name="text-456-436">
            <a:extLst xmlns:a="http://schemas.openxmlformats.org/drawingml/2006/main">
              <a:ext uri="{FF2B5EF4-FFF2-40B4-BE49-F238E27FC236}">
                <a16:creationId xmlns:a16="http://schemas.microsoft.com/office/drawing/2014/main" id="{DF5EB357-77F7-4132-A60E-9459772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VF-2 safety margin falls.</a:t>
            </a:r>
          </a:p>
        </p:txBody>
      </p:sp>
      <p:sp>
        <p:nvSpPr>
          <p:cNvPr id="20" name="text-660-282">
            <a:extLst xmlns:a="http://schemas.openxmlformats.org/drawingml/2006/main">
              <a:ext uri="{FF2B5EF4-FFF2-40B4-BE49-F238E27FC236}">
                <a16:creationId xmlns:a16="http://schemas.microsoft.com/office/drawing/2014/main" id="{3150C6D5-EB2C-42CF-9688-D650ED5E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10:40</a:t>
            </a:r>
          </a:p>
        </p:txBody>
      </p:sp>
      <p:sp>
        <p:nvSpPr>
          <p:cNvPr id="21" name="text-660-390">
            <a:extLst xmlns:a="http://schemas.openxmlformats.org/drawingml/2006/main">
              <a:ext uri="{FF2B5EF4-FFF2-40B4-BE49-F238E27FC236}">
                <a16:creationId xmlns:a16="http://schemas.microsoft.com/office/drawing/2014/main" id="{1263C3AE-AE87-4E0E-84AB-B9680A5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Permit active</a:t>
            </a:r>
          </a:p>
        </p:txBody>
      </p:sp>
      <p:sp>
        <p:nvSpPr>
          <p:cNvPr id="22" name="text-660-436">
            <a:extLst xmlns:a="http://schemas.openxmlformats.org/drawingml/2006/main">
              <a:ext uri="{FF2B5EF4-FFF2-40B4-BE49-F238E27FC236}">
                <a16:creationId xmlns:a16="http://schemas.microsoft.com/office/drawing/2014/main" id="{90C810FA-F98C-4BA2-AD4C-D3763A20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HW-204 adds ignition risk.</a:t>
            </a:r>
          </a:p>
        </p:txBody>
      </p:sp>
      <p:sp>
        <p:nvSpPr>
          <p:cNvPr id="23" name="text-864-282">
            <a:extLst xmlns:a="http://schemas.openxmlformats.org/drawingml/2006/main">
              <a:ext uri="{FF2B5EF4-FFF2-40B4-BE49-F238E27FC236}">
                <a16:creationId xmlns:a16="http://schemas.microsoft.com/office/drawing/2014/main" id="{F185ED61-BBB4-4E4E-8A0F-2F74DC89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10:43</a:t>
            </a:r>
          </a:p>
        </p:txBody>
      </p:sp>
      <p:sp>
        <p:nvSpPr>
          <p:cNvPr id="24" name="text-864-390">
            <a:extLst xmlns:a="http://schemas.openxmlformats.org/drawingml/2006/main">
              <a:ext uri="{FF2B5EF4-FFF2-40B4-BE49-F238E27FC236}">
                <a16:creationId xmlns:a16="http://schemas.microsoft.com/office/drawing/2014/main" id="{24EA47AC-5A11-4820-83FF-E957DDF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Workers enter</a:t>
            </a:r>
          </a:p>
        </p:txBody>
      </p:sp>
      <p:sp>
        <p:nvSpPr>
          <p:cNvPr id="25" name="text-864-436">
            <a:extLst xmlns:a="http://schemas.openxmlformats.org/drawingml/2006/main">
              <a:ext uri="{FF2B5EF4-FFF2-40B4-BE49-F238E27FC236}">
                <a16:creationId xmlns:a16="http://schemas.microsoft.com/office/drawing/2014/main" id="{5D9A9062-0B07-4C08-BD03-8AF0D81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Three people exposed.</a:t>
            </a:r>
          </a:p>
        </p:txBody>
      </p:sp>
      <p:sp>
        <p:nvSpPr>
          <p:cNvPr id="26" name="text-1068-282">
            <a:extLst xmlns:a="http://schemas.openxmlformats.org/drawingml/2006/main">
              <a:ext uri="{FF2B5EF4-FFF2-40B4-BE49-F238E27FC236}">
                <a16:creationId xmlns:a16="http://schemas.microsoft.com/office/drawing/2014/main" id="{0678F5F2-C306-446C-AAC7-FC7455C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10:45</a:t>
            </a:r>
          </a:p>
        </p:txBody>
      </p:sp>
      <p:sp>
        <p:nvSpPr>
          <p:cNvPr id="27" name="text-1068-390">
            <a:extLst xmlns:a="http://schemas.openxmlformats.org/drawingml/2006/main">
              <a:ext uri="{FF2B5EF4-FFF2-40B4-BE49-F238E27FC236}">
                <a16:creationId xmlns:a16="http://schemas.microsoft.com/office/drawing/2014/main" id="{C6376B8D-4C62-4A87-A9D3-2411B7FC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147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acts</a:t>
            </a:r>
          </a:p>
        </p:txBody>
      </p:sp>
      <p:sp>
        <p:nvSpPr>
          <p:cNvPr id="28" name="text-1068-436">
            <a:extLst xmlns:a="http://schemas.openxmlformats.org/drawingml/2006/main">
              <a:ext uri="{FF2B5EF4-FFF2-40B4-BE49-F238E27FC236}">
                <a16:creationId xmlns:a16="http://schemas.microsoft.com/office/drawing/2014/main" id="{8960D9CE-9E2F-4681-A0A4-BF67BA3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52900"/>
            <a:ext cx="1638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Critical pathway: 86/100.</a:t>
            </a:r>
          </a:p>
        </p:txBody>
      </p:sp>
      <p:sp>
        <p:nvSpPr>
          <p:cNvPr id="29" name="text-836-565">
            <a:extLst xmlns:a="http://schemas.openxmlformats.org/drawingml/2006/main">
              <a:ext uri="{FF2B5EF4-FFF2-40B4-BE49-F238E27FC236}">
                <a16:creationId xmlns:a16="http://schemas.microsoft.com/office/drawing/2014/main" id="{1C7FF3B1-6565-4065-889B-934DE36F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816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Traditional gas alarm: 11:06</a:t>
            </a:r>
          </a:p>
        </p:txBody>
      </p:sp>
      <p:sp>
        <p:nvSpPr>
          <p:cNvPr id="30" name="text-690-605">
            <a:extLst xmlns:a="http://schemas.openxmlformats.org/drawingml/2006/main">
              <a:ext uri="{FF2B5EF4-FFF2-40B4-BE49-F238E27FC236}">
                <a16:creationId xmlns:a16="http://schemas.microsoft.com/office/drawing/2014/main" id="{DBB6F440-EBE1-46A3-85E2-EDFF15C9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62625"/>
            <a:ext cx="481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creates a 21-minute prevention window.</a:t>
            </a:r>
          </a:p>
        </p:txBody>
      </p:sp>
    </p:spTree>
    <p:extLst>
      <p:ext uri="{BB962C8B-B14F-4D97-AF65-F5344CB8AC3E}">
        <p14:creationId xmlns:p14="http://schemas.microsoft.com/office/powerpoint/2010/main" val="2119541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0B41F251-4E2F-4BAF-A9B3-9F99F2A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PRODUCT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9A8D1494-9BF9-4333-B862-ABC429DA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The command center makes the prevention proof visible.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4B80D992-5642-40FD-9F00-7D465690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CE83-75D1-4EE3-BA23-0F96E48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1D"/>
          </a:solidFill>
          <a:ln xmlns:a="http://schemas.openxmlformats.org/drawingml/2006/main" w="9525">
            <a:solidFill>
              <a:srgbClr val="303A40"/>
            </a:solidFill>
            <a:prstDash val="solid"/>
          </a:ln>
        </p:spPr>
      </p:sp>
      <p:sp>
        <p:nvSpPr>
          <p:cNvPr id="5" name="text-64-170">
            <a:extLst xmlns:a="http://schemas.openxmlformats.org/drawingml/2006/main">
              <a:ext uri="{FF2B5EF4-FFF2-40B4-BE49-F238E27FC236}">
                <a16:creationId xmlns:a16="http://schemas.microsoft.com/office/drawing/2014/main" id="{796A5D18-81ED-4D22-86C8-8905F84B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C7C2"/>
                </a:solidFill>
                <a:latin typeface="Helvetica Neue"/>
                <a:ea typeface="Helvetica Neue"/>
                <a:cs typeface="Helvetica Neue"/>
              </a:defRPr>
            </a:pPr>
            <a:r>
              <a:t>LIVE PROTOTYPE / PREVENTION STATE</a:t>
            </a:r>
          </a:p>
        </p:txBody>
      </p:sp>
      <p:sp>
        <p:nvSpPr>
          <p:cNvPr id="6" name="text-930-170">
            <a:extLst xmlns:a="http://schemas.openxmlformats.org/drawingml/2006/main">
              <a:ext uri="{FF2B5EF4-FFF2-40B4-BE49-F238E27FC236}">
                <a16:creationId xmlns:a16="http://schemas.microsoft.com/office/drawing/2014/main" id="{F4ECCE28-E959-4C7A-8643-A80C8B2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deterministic replay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ec144381b4047"/>
          <a:srcRect xmlns:a="http://schemas.openxmlformats.org/drawingml/2006/main" l="0" t="18210" r="0" b="18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62150"/>
            <a:ext cx="10972800" cy="3924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1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A0443A77-3F75-4CEB-A21C-2236E62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RESULT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15E9A220-0F0B-488A-8439-AA46F900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creates time to prevent harm, not just report it.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3525F9A9-E0A5-4F77-9A09-643C8477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text-42-142">
            <a:extLst xmlns:a="http://schemas.openxmlformats.org/drawingml/2006/main">
              <a:ext uri="{FF2B5EF4-FFF2-40B4-BE49-F238E27FC236}">
                <a16:creationId xmlns:a16="http://schemas.microsoft.com/office/drawing/2014/main" id="{BECA6691-99D8-4006-BC6E-486EB1E5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3524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Zone C synthetic 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72E8C-9DDD-4A01-B1C0-F706CDC3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35C79-5668-4E32-BF99-A4EBAAA1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43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7" name="text-66-318">
            <a:extLst xmlns:a="http://schemas.openxmlformats.org/drawingml/2006/main">
              <a:ext uri="{FF2B5EF4-FFF2-40B4-BE49-F238E27FC236}">
                <a16:creationId xmlns:a16="http://schemas.microsoft.com/office/drawing/2014/main" id="{7AB8445A-8A33-468E-AC20-2AC14BE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304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21 min</a:t>
            </a:r>
          </a:p>
        </p:txBody>
      </p:sp>
      <p:sp>
        <p:nvSpPr>
          <p:cNvPr id="8" name="text-66-452">
            <a:extLst xmlns:a="http://schemas.openxmlformats.org/drawingml/2006/main">
              <a:ext uri="{FF2B5EF4-FFF2-40B4-BE49-F238E27FC236}">
                <a16:creationId xmlns:a16="http://schemas.microsoft.com/office/drawing/2014/main" id="{9F35FDE9-09ED-449F-8509-D1559757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Prevention lead time</a:t>
            </a:r>
          </a:p>
        </p:txBody>
      </p:sp>
      <p:sp>
        <p:nvSpPr>
          <p:cNvPr id="9" name="text-66-510">
            <a:extLst xmlns:a="http://schemas.openxmlformats.org/drawingml/2006/main">
              <a:ext uri="{FF2B5EF4-FFF2-40B4-BE49-F238E27FC236}">
                <a16:creationId xmlns:a16="http://schemas.microsoft.com/office/drawing/2014/main" id="{04B70AFB-F1E0-4AB6-95E7-3D7A301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10:45 / threshold 11:06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A2B4C-2305-4E40-A6F4-EDDF95D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765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6E678-DAAB-47F5-A5BE-B4E856B0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76500"/>
            <a:ext cx="3543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34D"/>
          </a:solidFill>
        </p:spPr>
      </p:sp>
      <p:sp>
        <p:nvSpPr>
          <p:cNvPr id="12" name="text-473-318">
            <a:extLst xmlns:a="http://schemas.openxmlformats.org/drawingml/2006/main">
              <a:ext uri="{FF2B5EF4-FFF2-40B4-BE49-F238E27FC236}">
                <a16:creationId xmlns:a16="http://schemas.microsoft.com/office/drawing/2014/main" id="{15A63DC7-AF35-4A5A-A822-B92E4EA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28950"/>
            <a:ext cx="304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86 / 100</a:t>
            </a:r>
          </a:p>
        </p:txBody>
      </p:sp>
      <p:sp>
        <p:nvSpPr>
          <p:cNvPr id="13" name="text-473-452">
            <a:extLst xmlns:a="http://schemas.openxmlformats.org/drawingml/2006/main">
              <a:ext uri="{FF2B5EF4-FFF2-40B4-BE49-F238E27FC236}">
                <a16:creationId xmlns:a16="http://schemas.microsoft.com/office/drawing/2014/main" id="{069E105B-825F-4A43-87FA-64BEBD7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0530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Critical pre-incident</a:t>
            </a:r>
          </a:p>
        </p:txBody>
      </p:sp>
      <p:sp>
        <p:nvSpPr>
          <p:cNvPr id="14" name="text-473-510">
            <a:extLst xmlns:a="http://schemas.openxmlformats.org/drawingml/2006/main">
              <a:ext uri="{FF2B5EF4-FFF2-40B4-BE49-F238E27FC236}">
                <a16:creationId xmlns:a16="http://schemas.microsoft.com/office/drawing/2014/main" id="{2F105D92-4457-4051-B82E-98B8573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57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Compound risk while baseline is silent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F95E6-4240-4D38-BABB-95095CB8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543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21BE8-A9A6-456E-A864-0F271F9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543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B65"/>
          </a:solidFill>
        </p:spPr>
      </p:sp>
      <p:sp>
        <p:nvSpPr>
          <p:cNvPr id="17" name="text-880-318">
            <a:extLst xmlns:a="http://schemas.openxmlformats.org/drawingml/2006/main">
              <a:ext uri="{FF2B5EF4-FFF2-40B4-BE49-F238E27FC236}">
                <a16:creationId xmlns:a16="http://schemas.microsoft.com/office/drawing/2014/main" id="{ED3B0001-7D68-4AF7-945E-2341FD9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048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F9B65"/>
                </a:solidFill>
                <a:latin typeface="Helvetica Neue"/>
                <a:ea typeface="Helvetica Neue"/>
                <a:cs typeface="Helvetica Neue"/>
              </a:defRPr>
            </a:pPr>
            <a:r>
              <a:t>82 pts</a:t>
            </a:r>
          </a:p>
        </p:txBody>
      </p:sp>
      <p:sp>
        <p:nvSpPr>
          <p:cNvPr id="18" name="text-880-452">
            <a:extLst xmlns:a="http://schemas.openxmlformats.org/drawingml/2006/main">
              <a:ext uri="{FF2B5EF4-FFF2-40B4-BE49-F238E27FC236}">
                <a16:creationId xmlns:a16="http://schemas.microsoft.com/office/drawing/2014/main" id="{782C91B0-90AF-48E6-A246-34C62E0A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04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Projected risk removed</a:t>
            </a:r>
          </a:p>
        </p:txBody>
      </p:sp>
      <p:sp>
        <p:nvSpPr>
          <p:cNvPr id="19" name="text-880-510">
            <a:extLst xmlns:a="http://schemas.openxmlformats.org/drawingml/2006/main">
              <a:ext uri="{FF2B5EF4-FFF2-40B4-BE49-F238E27FC236}">
                <a16:creationId xmlns:a16="http://schemas.microsoft.com/office/drawing/2014/main" id="{F489C99F-C9B6-422B-842E-776FA9AF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No action 100 / intervention 18</a:t>
            </a:r>
          </a:p>
        </p:txBody>
      </p:sp>
    </p:spTree>
    <p:extLst>
      <p:ext uri="{BB962C8B-B14F-4D97-AF65-F5344CB8AC3E}">
        <p14:creationId xmlns:p14="http://schemas.microsoft.com/office/powerpoint/2010/main" val="112811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5785959A-0F83-4D84-A710-496A9CA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COUNTERFACTUAL REPLAY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9D2CC368-D169-4DCA-BA2A-06D408EA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The safest future is selected before escalation.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781C3BD3-8A39-4811-A503-887F7EFC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B8AA4-A032-4C41-9F61-4938025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6690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E6A6A2"/>
            </a:solidFill>
            <a:prstDash val="solid"/>
          </a:ln>
        </p:spPr>
      </p:sp>
      <p:sp>
        <p:nvSpPr>
          <p:cNvPr id="5" name="text-810-220">
            <a:extLst xmlns:a="http://schemas.openxmlformats.org/drawingml/2006/main">
              <a:ext uri="{FF2B5EF4-FFF2-40B4-BE49-F238E27FC236}">
                <a16:creationId xmlns:a16="http://schemas.microsoft.com/office/drawing/2014/main" id="{D48126E1-C030-4825-AE78-712EDC6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NO ACTION</a:t>
            </a:r>
          </a:p>
        </p:txBody>
      </p:sp>
      <p:sp>
        <p:nvSpPr>
          <p:cNvPr id="6" name="text-810-258">
            <a:extLst xmlns:a="http://schemas.openxmlformats.org/drawingml/2006/main">
              <a:ext uri="{FF2B5EF4-FFF2-40B4-BE49-F238E27FC236}">
                <a16:creationId xmlns:a16="http://schemas.microsoft.com/office/drawing/2014/main" id="{5EDB7EC4-B991-436B-88A6-2FC112E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238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100 / 100</a:t>
            </a:r>
          </a:p>
        </p:txBody>
      </p:sp>
      <p:sp>
        <p:nvSpPr>
          <p:cNvPr id="7" name="text-810-324">
            <a:extLst xmlns:a="http://schemas.openxmlformats.org/drawingml/2006/main">
              <a:ext uri="{FF2B5EF4-FFF2-40B4-BE49-F238E27FC236}">
                <a16:creationId xmlns:a16="http://schemas.microsoft.com/office/drawing/2014/main" id="{74D6FB98-3B9A-4FF5-A312-9BED678C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Projected emergency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E2CF0-9C36-4DC9-803A-7EB603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90950"/>
            <a:ext cx="390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9FD1B5"/>
            </a:solidFill>
            <a:prstDash val="solid"/>
          </a:ln>
        </p:spPr>
      </p:sp>
      <p:sp>
        <p:nvSpPr>
          <p:cNvPr id="9" name="text-810-422">
            <a:extLst xmlns:a="http://schemas.openxmlformats.org/drawingml/2006/main">
              <a:ext uri="{FF2B5EF4-FFF2-40B4-BE49-F238E27FC236}">
                <a16:creationId xmlns:a16="http://schemas.microsoft.com/office/drawing/2014/main" id="{F3E50DA1-7E63-4E3B-978F-FFA8060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B65"/>
                </a:solidFill>
                <a:latin typeface="Helvetica Neue"/>
                <a:ea typeface="Helvetica Neue"/>
                <a:cs typeface="Helvetica Neue"/>
              </a:defRPr>
            </a:pPr>
            <a:r>
              <a:t>TARGETED INTERVENTION</a:t>
            </a:r>
          </a:p>
        </p:txBody>
      </p:sp>
      <p:sp>
        <p:nvSpPr>
          <p:cNvPr id="10" name="text-810-460">
            <a:extLst xmlns:a="http://schemas.openxmlformats.org/drawingml/2006/main">
              <a:ext uri="{FF2B5EF4-FFF2-40B4-BE49-F238E27FC236}">
                <a16:creationId xmlns:a16="http://schemas.microsoft.com/office/drawing/2014/main" id="{E6E5D469-2565-428B-8E6D-459F528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238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9B65"/>
                </a:solidFill>
                <a:latin typeface="Helvetica Neue"/>
                <a:ea typeface="Helvetica Neue"/>
                <a:cs typeface="Helvetica Neue"/>
              </a:defRPr>
            </a:pPr>
            <a:r>
              <a:t>18 / 100</a:t>
            </a:r>
          </a:p>
        </p:txBody>
      </p:sp>
      <p:sp>
        <p:nvSpPr>
          <p:cNvPr id="11" name="text-810-526">
            <a:extLst xmlns:a="http://schemas.openxmlformats.org/drawingml/2006/main">
              <a:ext uri="{FF2B5EF4-FFF2-40B4-BE49-F238E27FC236}">
                <a16:creationId xmlns:a16="http://schemas.microsoft.com/office/drawing/2014/main" id="{F01CC1A9-18B5-4036-B8AF-36F91A56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Pause HW-204, evacuate Zone C, restore VF-2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63830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02eb1395d1423a"/>
          </a:graphicData>
        </a:graphic>
      </p:graphicFrame>
    </p:spTree>
    <p:extLst>
      <p:ext uri="{BB962C8B-B14F-4D97-AF65-F5344CB8AC3E}">
        <p14:creationId xmlns:p14="http://schemas.microsoft.com/office/powerpoint/2010/main" val="1552369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00488206-C62A-407B-A46D-1699BA3A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6D5A09BF-DC71-426F-A31F-B19AA62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1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reasoning stays underneath every AI explanation.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9CA5F1B5-AE0A-454A-96FA-049CDD7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076450" y="293370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4171950" y="293370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6267450" y="293370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8362950" y="293370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10458450" y="293370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9696450" y="3581400"/>
            <a:ext cx="4763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7600950" y="4857750"/>
            <a:ext cx="5524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CFD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F023-B1D6-43A0-A63B-3CEC827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39A7A0"/>
            </a:solidFill>
            <a:prstDash val="solid"/>
          </a:ln>
        </p:spPr>
      </p:sp>
      <p:sp>
        <p:nvSpPr>
          <p:cNvPr id="12" name="text-74-250">
            <a:extLst xmlns:a="http://schemas.openxmlformats.org/drawingml/2006/main">
              <a:ext uri="{FF2B5EF4-FFF2-40B4-BE49-F238E27FC236}">
                <a16:creationId xmlns:a16="http://schemas.microsoft.com/office/drawing/2014/main" id="{4E93F8B3-D950-463C-AA8F-11B7DD44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3" name="text-74-284">
            <a:extLst xmlns:a="http://schemas.openxmlformats.org/drawingml/2006/main">
              <a:ext uri="{FF2B5EF4-FFF2-40B4-BE49-F238E27FC236}">
                <a16:creationId xmlns:a16="http://schemas.microsoft.com/office/drawing/2014/main" id="{01CD0183-357F-4F05-83F3-91D682BB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Plant inputs</a:t>
            </a:r>
          </a:p>
        </p:txBody>
      </p:sp>
      <p:sp>
        <p:nvSpPr>
          <p:cNvPr id="14" name="text-74-320">
            <a:extLst xmlns:a="http://schemas.openxmlformats.org/drawingml/2006/main">
              <a:ext uri="{FF2B5EF4-FFF2-40B4-BE49-F238E27FC236}">
                <a16:creationId xmlns:a16="http://schemas.microsoft.com/office/drawing/2014/main" id="{0467E3E0-5589-4295-B51C-3CD4496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Sensors, permits, CCTV metadata, maintenance and shifts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711C-5D18-476A-B50B-34C0616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479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6" name="text-294-250">
            <a:extLst xmlns:a="http://schemas.openxmlformats.org/drawingml/2006/main">
              <a:ext uri="{FF2B5EF4-FFF2-40B4-BE49-F238E27FC236}">
                <a16:creationId xmlns:a16="http://schemas.microsoft.com/office/drawing/2014/main" id="{A0E60C44-54FB-46BA-90D4-66D2334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CFD6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7" name="text-294-284">
            <a:extLst xmlns:a="http://schemas.openxmlformats.org/drawingml/2006/main">
              <a:ext uri="{FF2B5EF4-FFF2-40B4-BE49-F238E27FC236}">
                <a16:creationId xmlns:a16="http://schemas.microsoft.com/office/drawing/2014/main" id="{7ADD74D6-B1EB-49D8-82BE-26260E73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05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Event layer</a:t>
            </a:r>
          </a:p>
        </p:txBody>
      </p:sp>
      <p:sp>
        <p:nvSpPr>
          <p:cNvPr id="18" name="text-294-320">
            <a:extLst xmlns:a="http://schemas.openxmlformats.org/drawingml/2006/main">
              <a:ext uri="{FF2B5EF4-FFF2-40B4-BE49-F238E27FC236}">
                <a16:creationId xmlns:a16="http://schemas.microsoft.com/office/drawing/2014/main" id="{4DC3DA51-2E7C-4399-8809-49CC0C99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Normalized source IDs, timestamps and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3B2D7-5AB5-4234-A62A-A8BF0353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479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39A7A0"/>
            </a:solidFill>
            <a:prstDash val="solid"/>
          </a:ln>
        </p:spPr>
      </p:sp>
      <p:sp>
        <p:nvSpPr>
          <p:cNvPr id="20" name="text-514-250">
            <a:extLst xmlns:a="http://schemas.openxmlformats.org/drawingml/2006/main">
              <a:ext uri="{FF2B5EF4-FFF2-40B4-BE49-F238E27FC236}">
                <a16:creationId xmlns:a16="http://schemas.microsoft.com/office/drawing/2014/main" id="{421163E9-8286-41A9-9478-7AB40E2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1" name="text-514-284">
            <a:extLst xmlns:a="http://schemas.openxmlformats.org/drawingml/2006/main">
              <a:ext uri="{FF2B5EF4-FFF2-40B4-BE49-F238E27FC236}">
                <a16:creationId xmlns:a16="http://schemas.microsoft.com/office/drawing/2014/main" id="{03531DE4-5C67-471C-8857-BE7E86F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Graph context</a:t>
            </a:r>
          </a:p>
        </p:txBody>
      </p:sp>
      <p:sp>
        <p:nvSpPr>
          <p:cNvPr id="22" name="text-514-320">
            <a:extLst xmlns:a="http://schemas.openxmlformats.org/drawingml/2006/main">
              <a:ext uri="{FF2B5EF4-FFF2-40B4-BE49-F238E27FC236}">
                <a16:creationId xmlns:a16="http://schemas.microsoft.com/office/drawing/2014/main" id="{B8D6F9CF-7781-4D54-8AF2-FE28D27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Workers, zones, equipment, permits and incident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BBF42-BEFC-49C9-9434-05AA999B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69B2D"/>
            </a:solidFill>
            <a:prstDash val="solid"/>
          </a:ln>
        </p:spPr>
      </p:sp>
      <p:sp>
        <p:nvSpPr>
          <p:cNvPr id="24" name="text-734-250">
            <a:extLst xmlns:a="http://schemas.openxmlformats.org/drawingml/2006/main">
              <a:ext uri="{FF2B5EF4-FFF2-40B4-BE49-F238E27FC236}">
                <a16:creationId xmlns:a16="http://schemas.microsoft.com/office/drawing/2014/main" id="{4E87F469-EBCB-4FB9-9D7D-937C739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B2D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5" name="text-734-284">
            <a:extLst xmlns:a="http://schemas.openxmlformats.org/drawingml/2006/main">
              <a:ext uri="{FF2B5EF4-FFF2-40B4-BE49-F238E27FC236}">
                <a16:creationId xmlns:a16="http://schemas.microsoft.com/office/drawing/2014/main" id="{D23A42ED-D2E1-4C1F-B595-7A09E69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Causal risk</a:t>
            </a:r>
          </a:p>
        </p:txBody>
      </p:sp>
      <p:sp>
        <p:nvSpPr>
          <p:cNvPr id="26" name="text-734-320">
            <a:extLst xmlns:a="http://schemas.openxmlformats.org/drawingml/2006/main">
              <a:ext uri="{FF2B5EF4-FFF2-40B4-BE49-F238E27FC236}">
                <a16:creationId xmlns:a16="http://schemas.microsoft.com/office/drawing/2014/main" id="{C6C17347-6053-48B6-8D54-42521BB8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480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Weighted compound score with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47C8A-8540-4D37-81BC-06FD71BD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479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69B2D"/>
            </a:solidFill>
            <a:prstDash val="solid"/>
          </a:ln>
        </p:spPr>
      </p:sp>
      <p:sp>
        <p:nvSpPr>
          <p:cNvPr id="28" name="text-954-250">
            <a:extLst xmlns:a="http://schemas.openxmlformats.org/drawingml/2006/main">
              <a:ext uri="{FF2B5EF4-FFF2-40B4-BE49-F238E27FC236}">
                <a16:creationId xmlns:a16="http://schemas.microsoft.com/office/drawing/2014/main" id="{9A37902D-A06D-494B-B831-AD08863B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9B2D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9" name="text-954-284">
            <a:extLst xmlns:a="http://schemas.openxmlformats.org/drawingml/2006/main">
              <a:ext uri="{FF2B5EF4-FFF2-40B4-BE49-F238E27FC236}">
                <a16:creationId xmlns:a16="http://schemas.microsoft.com/office/drawing/2014/main" id="{49D7B967-89FA-45BF-89F6-05949F9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99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Future simulator</a:t>
            </a:r>
          </a:p>
        </p:txBody>
      </p:sp>
      <p:sp>
        <p:nvSpPr>
          <p:cNvPr id="30" name="text-954-320">
            <a:extLst xmlns:a="http://schemas.openxmlformats.org/drawingml/2006/main">
              <a:ext uri="{FF2B5EF4-FFF2-40B4-BE49-F238E27FC236}">
                <a16:creationId xmlns:a16="http://schemas.microsoft.com/office/drawing/2014/main" id="{1B0866D3-DD4E-445C-85F0-B97532D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No action versus targeted intervention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267F9-EAEC-4017-A6D3-1AC9E709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D6534D"/>
            </a:solidFill>
            <a:prstDash val="solid"/>
          </a:ln>
        </p:spPr>
      </p:sp>
      <p:sp>
        <p:nvSpPr>
          <p:cNvPr id="32" name="text-874-468">
            <a:extLst xmlns:a="http://schemas.openxmlformats.org/drawingml/2006/main">
              <a:ext uri="{FF2B5EF4-FFF2-40B4-BE49-F238E27FC236}">
                <a16:creationId xmlns:a16="http://schemas.microsoft.com/office/drawing/2014/main" id="{41A30F81-280C-4F8B-B911-025B9AF5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534D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3" name="text-874-502">
            <a:extLst xmlns:a="http://schemas.openxmlformats.org/drawingml/2006/main">
              <a:ext uri="{FF2B5EF4-FFF2-40B4-BE49-F238E27FC236}">
                <a16:creationId xmlns:a16="http://schemas.microsoft.com/office/drawing/2014/main" id="{6C3EF913-B09D-4A82-8B27-2EB0D21C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3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Human approval</a:t>
            </a:r>
          </a:p>
        </p:txBody>
      </p:sp>
      <p:sp>
        <p:nvSpPr>
          <p:cNvPr id="34" name="text-874-538">
            <a:extLst xmlns:a="http://schemas.openxmlformats.org/drawingml/2006/main">
              <a:ext uri="{FF2B5EF4-FFF2-40B4-BE49-F238E27FC236}">
                <a16:creationId xmlns:a16="http://schemas.microsoft.com/office/drawing/2014/main" id="{1BCDECD8-DC81-4E46-AF1D-24808305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Safety officer owns high-impact actions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68D82-77FD-4D0F-828A-5CF5310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B"/>
          </a:solidFill>
          <a:ln xmlns:a="http://schemas.openxmlformats.org/drawingml/2006/main" w="9525">
            <a:solidFill>
              <a:srgbClr val="3D7DE0"/>
            </a:solidFill>
            <a:prstDash val="solid"/>
          </a:ln>
        </p:spPr>
      </p:sp>
      <p:sp>
        <p:nvSpPr>
          <p:cNvPr id="36" name="text-654-468">
            <a:extLst xmlns:a="http://schemas.openxmlformats.org/drawingml/2006/main">
              <a:ext uri="{FF2B5EF4-FFF2-40B4-BE49-F238E27FC236}">
                <a16:creationId xmlns:a16="http://schemas.microsoft.com/office/drawing/2014/main" id="{B49DFBD7-2E0C-4225-9BCB-209D02C8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7DE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37" name="text-654-502">
            <a:extLst xmlns:a="http://schemas.openxmlformats.org/drawingml/2006/main">
              <a:ext uri="{FF2B5EF4-FFF2-40B4-BE49-F238E27FC236}">
                <a16:creationId xmlns:a16="http://schemas.microsoft.com/office/drawing/2014/main" id="{7F88788F-DD14-4F84-AB5E-C07AA5F0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121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38" name="text-654-538">
            <a:extLst xmlns:a="http://schemas.openxmlformats.org/drawingml/2006/main">
              <a:ext uri="{FF2B5EF4-FFF2-40B4-BE49-F238E27FC236}">
                <a16:creationId xmlns:a16="http://schemas.microsoft.com/office/drawing/2014/main" id="{3DE5DD21-DEE2-4F29-88E7-D8E01C5C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1219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Bundle, replay and audit trail</a:t>
            </a:r>
          </a:p>
        </p:txBody>
      </p:sp>
      <p:sp>
        <p:nvSpPr>
          <p:cNvPr id="39" name="text-42-610">
            <a:extLst xmlns:a="http://schemas.openxmlformats.org/drawingml/2006/main">
              <a:ext uri="{FF2B5EF4-FFF2-40B4-BE49-F238E27FC236}">
                <a16:creationId xmlns:a16="http://schemas.microsoft.com/office/drawing/2014/main" id="{3132DA8D-76B3-4C48-BADE-E8BC68B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Safety boundary: existing interlocks remain independent; AstraSafe is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9865522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C4CB21CD-DADA-4C66-9690-E04AEA6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AB982CC0-BF03-498F-8A02-2A3BB55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Four synthetic replays test more than one accident pattern.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42675F62-8B67-42AE-96D4-264BD315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" name="text-42-130">
            <a:extLst xmlns:a="http://schemas.openxmlformats.org/drawingml/2006/main">
              <a:ext uri="{FF2B5EF4-FFF2-40B4-BE49-F238E27FC236}">
                <a16:creationId xmlns:a16="http://schemas.microsoft.com/office/drawing/2014/main" id="{756EAD01-B8F6-4B16-A947-F7758AD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prototype validation; not a real-plant accuracy claim.</a:t>
            </a:r>
          </a:p>
        </p:txBody>
      </p:sp>
      <p:graphicFrame>
        <p:nvGraphicFramePr>
          <p:cNvPr id="18" name="benchmark-table"/>
          <p:cNvGraphicFramePr/>
          <p:nvPr/>
        </p:nvGraphicFramePr>
        <p:xfrm>
          <a:off xmlns:a="http://schemas.openxmlformats.org/drawingml/2006/main" x="400050" y="1962150"/>
          <a:ext xmlns:a="http://schemas.openxmlformats.org/drawingml/2006/main" cx="113919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381125"/>
                <a:gridCol w="1381125"/>
                <a:gridCol w="1381125"/>
                <a:gridCol w="1381125"/>
                <a:gridCol w="1619250"/>
              </a:tblGrid>
              <a:tr h="647700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AstraSafe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Static 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Threshold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Lead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Gas + hot work + workers + fan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10:45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10:51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11:06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86 to 18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Confined space + oxygen + supervisor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11:02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11:10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11:24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82 to 24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Forklift + blind corner + crowding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14:11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alert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alert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 to 29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Isolation incomplete + startup permit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16:18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16:27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16:40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79 to 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DA66-5EEA-4E9C-8326-288BAABB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39A7A0"/>
            </a:solidFill>
            <a:prstDash val="solid"/>
          </a:ln>
        </p:spPr>
      </p:sp>
      <p:sp>
        <p:nvSpPr>
          <p:cNvPr id="7" name="text-58-594">
            <a:extLst xmlns:a="http://schemas.openxmlformats.org/drawingml/2006/main">
              <a:ext uri="{FF2B5EF4-FFF2-40B4-BE49-F238E27FC236}">
                <a16:creationId xmlns:a16="http://schemas.microsoft.com/office/drawing/2014/main" id="{1765E08A-AD4D-4D56-B2A3-D9F4F1D4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100% AstraSafe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39218-0C4D-4684-BE87-7627BE79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69B2D"/>
            </a:solidFill>
            <a:prstDash val="solid"/>
          </a:ln>
        </p:spPr>
      </p:sp>
      <p:sp>
        <p:nvSpPr>
          <p:cNvPr id="9" name="text-346-594">
            <a:extLst xmlns:a="http://schemas.openxmlformats.org/drawingml/2006/main">
              <a:ext uri="{FF2B5EF4-FFF2-40B4-BE49-F238E27FC236}">
                <a16:creationId xmlns:a16="http://schemas.microsoft.com/office/drawing/2014/main" id="{B7B59010-DD1A-405B-984B-5E52C66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9B2D"/>
                </a:solidFill>
                <a:latin typeface="Helvetica Neue"/>
                <a:ea typeface="Helvetica Neue"/>
                <a:cs typeface="Helvetica Neue"/>
              </a:defRPr>
            </a:pPr>
            <a:r>
              <a:t>22 min average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402F8-9AE5-4293-AEB2-7991C7C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673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F"/>
          </a:solidFill>
          <a:ln xmlns:a="http://schemas.openxmlformats.org/drawingml/2006/main" w="9525">
            <a:solidFill>
              <a:srgbClr val="2F9B65"/>
            </a:solidFill>
            <a:prstDash val="solid"/>
          </a:ln>
        </p:spPr>
      </p:sp>
      <p:sp>
        <p:nvSpPr>
          <p:cNvPr id="11" name="text-634-594">
            <a:extLst xmlns:a="http://schemas.openxmlformats.org/drawingml/2006/main">
              <a:ext uri="{FF2B5EF4-FFF2-40B4-BE49-F238E27FC236}">
                <a16:creationId xmlns:a16="http://schemas.microsoft.com/office/drawing/2014/main" id="{22223A00-BBDF-4347-AE0D-3B45FFA9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57850"/>
            <a:ext cx="2247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9B65"/>
                </a:solidFill>
                <a:latin typeface="Helvetica Neue"/>
                <a:ea typeface="Helvetica Neue"/>
                <a:cs typeface="Helvetica Neue"/>
              </a:defRPr>
            </a:pPr>
            <a:r>
              <a:t>57 pt average reduction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AF1D4-91D9-4BC6-AD97-3FFC411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6735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3" name="text-922-594">
            <a:extLst xmlns:a="http://schemas.openxmlformats.org/drawingml/2006/main">
              <a:ext uri="{FF2B5EF4-FFF2-40B4-BE49-F238E27FC236}">
                <a16:creationId xmlns:a16="http://schemas.microsoft.com/office/drawing/2014/main" id="{8FE19AD9-C5F4-4362-8CCF-1ABE42CE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578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24 traceable evidence links</a:t>
            </a:r>
          </a:p>
        </p:txBody>
      </p:sp>
    </p:spTree>
    <p:extLst>
      <p:ext uri="{BB962C8B-B14F-4D97-AF65-F5344CB8AC3E}">
        <p14:creationId xmlns:p14="http://schemas.microsoft.com/office/powerpoint/2010/main" val="1763467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B948E2FF-63E5-4101-8A27-186A780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INNOVATION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8EEFE66E-07F8-4B53-A4D7-15262296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85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The novelty is the prevention loop, not another safety dashboard.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7928D57D-D8BF-4E74-8F52-127C6E1A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A4C82-A6D9-4817-BA80-D8046EF7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5" name="text-74-196">
            <a:extLst xmlns:a="http://schemas.openxmlformats.org/drawingml/2006/main">
              <a:ext uri="{FF2B5EF4-FFF2-40B4-BE49-F238E27FC236}">
                <a16:creationId xmlns:a16="http://schemas.microsoft.com/office/drawing/2014/main" id="{2AC5D601-C74C-42DB-8C93-41D180BB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Causal pathway</a:t>
            </a:r>
          </a:p>
        </p:txBody>
      </p:sp>
      <p:sp>
        <p:nvSpPr>
          <p:cNvPr id="6" name="text-74-256">
            <a:extLst xmlns:a="http://schemas.openxmlformats.org/drawingml/2006/main">
              <a:ext uri="{FF2B5EF4-FFF2-40B4-BE49-F238E27FC236}">
                <a16:creationId xmlns:a16="http://schemas.microsoft.com/office/drawing/2014/main" id="{98C1F1DB-E46D-4D93-A9EE-73A5C8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weak signals across people, permits, machines, sensors and geography.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F655B-A5CC-46C3-90DA-5EE93EF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9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DE0"/>
          </a:solidFill>
        </p:spPr>
      </p:sp>
      <p:sp>
        <p:nvSpPr>
          <p:cNvPr id="8" name="text-684-196">
            <a:extLst xmlns:a="http://schemas.openxmlformats.org/drawingml/2006/main">
              <a:ext uri="{FF2B5EF4-FFF2-40B4-BE49-F238E27FC236}">
                <a16:creationId xmlns:a16="http://schemas.microsoft.com/office/drawing/2014/main" id="{EDC80F68-1C36-42FD-B4AE-C4F9F3D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Counterfactual replay</a:t>
            </a:r>
          </a:p>
        </p:txBody>
      </p:sp>
      <p:sp>
        <p:nvSpPr>
          <p:cNvPr id="9" name="text-684-256">
            <a:extLst xmlns:a="http://schemas.openxmlformats.org/drawingml/2006/main">
              <a:ext uri="{FF2B5EF4-FFF2-40B4-BE49-F238E27FC236}">
                <a16:creationId xmlns:a16="http://schemas.microsoft.com/office/drawing/2014/main" id="{DA5B9947-C8DD-4025-8231-0AEEBC23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no-action and intervention futures before the threshold breach.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0B1D4-97D6-4EBC-B795-AF9A1AF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9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B2D"/>
          </a:solidFill>
        </p:spPr>
      </p:sp>
      <p:sp>
        <p:nvSpPr>
          <p:cNvPr id="11" name="text-74-422">
            <a:extLst xmlns:a="http://schemas.openxmlformats.org/drawingml/2006/main">
              <a:ext uri="{FF2B5EF4-FFF2-40B4-BE49-F238E27FC236}">
                <a16:creationId xmlns:a16="http://schemas.microsoft.com/office/drawing/2014/main" id="{7CE68F7A-1114-4834-972A-7F4CF2A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Dynamic permit safety</a:t>
            </a:r>
          </a:p>
        </p:txBody>
      </p:sp>
      <p:sp>
        <p:nvSpPr>
          <p:cNvPr id="12" name="text-74-482">
            <a:extLst xmlns:a="http://schemas.openxmlformats.org/drawingml/2006/main">
              <a:ext uri="{FF2B5EF4-FFF2-40B4-BE49-F238E27FC236}">
                <a16:creationId xmlns:a16="http://schemas.microsoft.com/office/drawing/2014/main" id="{7E2898AF-69D5-4CF9-AD5D-9AC2F8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Detect when a permit becomes unsafe after it was validly issued.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A548B-2EB0-48FA-B61C-29B6DA1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9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B65"/>
          </a:solidFill>
        </p:spPr>
      </p:sp>
      <p:sp>
        <p:nvSpPr>
          <p:cNvPr id="14" name="text-684-422">
            <a:extLst xmlns:a="http://schemas.openxmlformats.org/drawingml/2006/main">
              <a:ext uri="{FF2B5EF4-FFF2-40B4-BE49-F238E27FC236}">
                <a16:creationId xmlns:a16="http://schemas.microsoft.com/office/drawing/2014/main" id="{7FE1C4C6-1797-41E2-92DC-EADCA905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Smallest effective action</a:t>
            </a:r>
          </a:p>
        </p:txBody>
      </p:sp>
      <p:sp>
        <p:nvSpPr>
          <p:cNvPr id="15" name="text-684-482">
            <a:extLst xmlns:a="http://schemas.openxmlformats.org/drawingml/2006/main">
              <a:ext uri="{FF2B5EF4-FFF2-40B4-BE49-F238E27FC236}">
                <a16:creationId xmlns:a16="http://schemas.microsoft.com/office/drawing/2014/main" id="{A41053BF-C694-4D34-A335-2C80AFB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Reduce harm and operational disruption with a ranked targeted response.</a:t>
            </a:r>
          </a:p>
        </p:txBody>
      </p:sp>
    </p:spTree>
    <p:extLst>
      <p:ext uri="{BB962C8B-B14F-4D97-AF65-F5344CB8AC3E}">
        <p14:creationId xmlns:p14="http://schemas.microsoft.com/office/powerpoint/2010/main" val="267524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36">
            <a:extLst xmlns:a="http://schemas.openxmlformats.org/drawingml/2006/main">
              <a:ext uri="{FF2B5EF4-FFF2-40B4-BE49-F238E27FC236}">
                <a16:creationId xmlns:a16="http://schemas.microsoft.com/office/drawing/2014/main" id="{22E11110-0A0A-4E4A-899E-19F5332A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AND GOVERNANCE</a:t>
            </a:r>
          </a:p>
        </p:txBody>
      </p:sp>
      <p:sp>
        <p:nvSpPr>
          <p:cNvPr id="2" name="text-42-72">
            <a:extLst xmlns:a="http://schemas.openxmlformats.org/drawingml/2006/main">
              <a:ext uri="{FF2B5EF4-FFF2-40B4-BE49-F238E27FC236}">
                <a16:creationId xmlns:a16="http://schemas.microsoft.com/office/drawing/2014/main" id="{BFD68240-BADD-49AE-A6C8-73D318B3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Built to add intelligence without weakening certified controls.</a:t>
            </a:r>
          </a:p>
        </p:txBody>
      </p:sp>
      <p:sp>
        <p:nvSpPr>
          <p:cNvPr id="3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95D1B829-943D-4659-99E8-600A47E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DB44E-D16F-489B-9711-CD8E273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571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1FD66-803C-40E2-98C8-2B59BAF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34D"/>
          </a:solidFill>
        </p:spPr>
      </p:sp>
      <p:sp>
        <p:nvSpPr>
          <p:cNvPr id="6" name="text-62-292">
            <a:extLst xmlns:a="http://schemas.openxmlformats.org/drawingml/2006/main">
              <a:ext uri="{FF2B5EF4-FFF2-40B4-BE49-F238E27FC236}">
                <a16:creationId xmlns:a16="http://schemas.microsoft.com/office/drawing/2014/main" id="{93F99675-10DC-4487-9B7A-ADBC4CB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Impact</a:t>
            </a:r>
          </a:p>
        </p:txBody>
      </p:sp>
      <p:sp>
        <p:nvSpPr>
          <p:cNvPr id="7" name="text-62-354">
            <a:extLst xmlns:a="http://schemas.openxmlformats.org/drawingml/2006/main">
              <a:ext uri="{FF2B5EF4-FFF2-40B4-BE49-F238E27FC236}">
                <a16:creationId xmlns:a16="http://schemas.microsoft.com/office/drawing/2014/main" id="{5EE73FFB-4DB0-4A0D-AC7A-FCC1BADA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171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Earlier prevention can reduce worker harm, emergency downtime and investigation ambiguity.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5BA91-2F85-4A6E-BB54-028C920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57400"/>
            <a:ext cx="2571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D6A4E-670B-40C0-9E47-CDDF3937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7DE0"/>
          </a:solidFill>
        </p:spPr>
      </p:sp>
      <p:sp>
        <p:nvSpPr>
          <p:cNvPr id="10" name="text-362-292">
            <a:extLst xmlns:a="http://schemas.openxmlformats.org/drawingml/2006/main">
              <a:ext uri="{FF2B5EF4-FFF2-40B4-BE49-F238E27FC236}">
                <a16:creationId xmlns:a16="http://schemas.microsoft.com/office/drawing/2014/main" id="{18639F3F-0B82-46A2-816A-E3ABA9C6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Adoption</a:t>
            </a:r>
          </a:p>
        </p:txBody>
      </p:sp>
      <p:sp>
        <p:nvSpPr>
          <p:cNvPr id="11" name="text-362-354">
            <a:extLst xmlns:a="http://schemas.openxmlformats.org/drawingml/2006/main">
              <a:ext uri="{FF2B5EF4-FFF2-40B4-BE49-F238E27FC236}">
                <a16:creationId xmlns:a16="http://schemas.microsoft.com/office/drawing/2014/main" id="{1A56C438-5839-4FF5-BFD9-817268FA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2171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Adapter contracts sit above existing SCADA, permit, CCTV and EHS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E20C0-A19B-48EE-ADB2-3927A279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2571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2C5B2-5048-4B7B-B8AD-6E08AFB7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7A0"/>
          </a:solidFill>
        </p:spPr>
      </p:sp>
      <p:sp>
        <p:nvSpPr>
          <p:cNvPr id="14" name="text-662-292">
            <a:extLst xmlns:a="http://schemas.openxmlformats.org/drawingml/2006/main">
              <a:ext uri="{FF2B5EF4-FFF2-40B4-BE49-F238E27FC236}">
                <a16:creationId xmlns:a16="http://schemas.microsoft.com/office/drawing/2014/main" id="{B215930E-0870-451C-A625-9973DAC6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Trust</a:t>
            </a:r>
          </a:p>
        </p:txBody>
      </p:sp>
      <p:sp>
        <p:nvSpPr>
          <p:cNvPr id="15" name="text-662-354">
            <a:extLst xmlns:a="http://schemas.openxmlformats.org/drawingml/2006/main">
              <a:ext uri="{FF2B5EF4-FFF2-40B4-BE49-F238E27FC236}">
                <a16:creationId xmlns:a16="http://schemas.microsoft.com/office/drawing/2014/main" id="{381DC458-EDBA-4ED0-82BC-79EA7C1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2171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Risk scoring is deterministic; every factor links to an event or source 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80165-4FF6-48BF-B807-B5C7BF6F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2571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F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EEC5F-ED52-4C23-90DC-14F13A01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B2D"/>
          </a:solidFill>
        </p:spPr>
      </p:sp>
      <p:sp>
        <p:nvSpPr>
          <p:cNvPr id="18" name="text-962-292">
            <a:extLst xmlns:a="http://schemas.openxmlformats.org/drawingml/2006/main">
              <a:ext uri="{FF2B5EF4-FFF2-40B4-BE49-F238E27FC236}">
                <a16:creationId xmlns:a16="http://schemas.microsoft.com/office/drawing/2014/main" id="{B227988D-452C-40C5-9033-83B3700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Control</a:t>
            </a:r>
          </a:p>
        </p:txBody>
      </p:sp>
      <p:sp>
        <p:nvSpPr>
          <p:cNvPr id="19" name="text-962-354">
            <a:extLst xmlns:a="http://schemas.openxmlformats.org/drawingml/2006/main">
              <a:ext uri="{FF2B5EF4-FFF2-40B4-BE49-F238E27FC236}">
                <a16:creationId xmlns:a16="http://schemas.microsoft.com/office/drawing/2014/main" id="{8F8909F9-EC35-463E-9EDE-D4F16C98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1717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Permit pause, evacuation and shutdown recommendations require named human approval.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9370B-32ED-47C2-9F92-466D921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C"/>
          </a:solidFill>
          <a:ln xmlns:a="http://schemas.openxmlformats.org/drawingml/2006/main" w="9525">
            <a:solidFill>
              <a:srgbClr val="11161C"/>
            </a:solidFill>
            <a:prstDash val="solid"/>
          </a:ln>
        </p:spPr>
      </p:sp>
      <p:sp>
        <p:nvSpPr>
          <p:cNvPr id="21" name="text-66-573">
            <a:extLst xmlns:a="http://schemas.openxmlformats.org/drawingml/2006/main">
              <a:ext uri="{FF2B5EF4-FFF2-40B4-BE49-F238E27FC236}">
                <a16:creationId xmlns:a16="http://schemas.microsoft.com/office/drawing/2014/main" id="{81AB5B98-C714-4465-8241-FD46AF56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687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status: synthetic pilot prototype. Production requires site calibration, domain validation and certified governance.</a:t>
            </a:r>
          </a:p>
        </p:txBody>
      </p:sp>
    </p:spTree>
    <p:extLst>
      <p:ext uri="{BB962C8B-B14F-4D97-AF65-F5344CB8AC3E}">
        <p14:creationId xmlns:p14="http://schemas.microsoft.com/office/powerpoint/2010/main" val="965801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2-42">
            <a:extLst xmlns:a="http://schemas.openxmlformats.org/drawingml/2006/main">
              <a:ext uri="{FF2B5EF4-FFF2-40B4-BE49-F238E27FC236}">
                <a16:creationId xmlns:a16="http://schemas.microsoft.com/office/drawing/2014/main" id="{DD3A1564-100C-4BCA-8EA7-CF87EBB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A7A0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AI</a:t>
            </a:r>
          </a:p>
        </p:txBody>
      </p:sp>
      <p:sp>
        <p:nvSpPr>
          <p:cNvPr id="2" name="text-42-150">
            <a:extLst xmlns:a="http://schemas.openxmlformats.org/drawingml/2006/main">
              <a:ext uri="{FF2B5EF4-FFF2-40B4-BE49-F238E27FC236}">
                <a16:creationId xmlns:a16="http://schemas.microsoft.com/office/drawing/2014/main" id="{AF48C435-15F2-4934-9360-4035FBC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953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Before the alarm.
Before the accident.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00050" y="3981450"/>
            <a:ext cx="2667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D6534D"/>
            </a:solidFill>
            <a:prstDash val="solid"/>
          </a:ln>
        </p:spPr>
      </p:cxnSp>
      <p:sp>
        <p:nvSpPr>
          <p:cNvPr id="4" name="text-42-458">
            <a:extLst xmlns:a="http://schemas.openxmlformats.org/drawingml/2006/main">
              <a:ext uri="{FF2B5EF4-FFF2-40B4-BE49-F238E27FC236}">
                <a16:creationId xmlns:a16="http://schemas.microsoft.com/office/drawing/2014/main" id="{26D54C94-450A-49F9-889B-08BBBC5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8382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61C"/>
                </a:solidFill>
                <a:latin typeface="Helvetica Neue"/>
                <a:ea typeface="Helvetica Neue"/>
                <a:cs typeface="Helvetica Neue"/>
              </a:defRPr>
            </a:pPr>
            <a:r>
              <a:t>AstraSafe turns disconnected weak signals into an evidence-backed prevention decision.</a:t>
            </a:r>
          </a:p>
        </p:txBody>
      </p:sp>
      <p:sp>
        <p:nvSpPr>
          <p:cNvPr id="5" name="text-42-610">
            <a:extLst xmlns:a="http://schemas.openxmlformats.org/drawingml/2006/main">
              <a:ext uri="{FF2B5EF4-FFF2-40B4-BE49-F238E27FC236}">
                <a16:creationId xmlns:a16="http://schemas.microsoft.com/office/drawing/2014/main" id="{34994478-985F-4C7D-B37F-69866F2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The accident that never happened is the outcome that matters.</a:t>
            </a:r>
          </a:p>
        </p:txBody>
      </p:sp>
      <p:sp>
        <p:nvSpPr>
          <p:cNvPr id="6" name="text-1190-672">
            <a:extLst xmlns:a="http://schemas.openxmlformats.org/drawingml/2006/main">
              <a:ext uri="{FF2B5EF4-FFF2-40B4-BE49-F238E27FC236}">
                <a16:creationId xmlns:a16="http://schemas.microsoft.com/office/drawing/2014/main" id="{80F17908-84C0-4839-9B5E-28D3239D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A75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318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2026-07-11T19:37:56.2270000Z</dcterms:created>
  <dcterms:modified xsi:type="dcterms:W3CDTF">2026-07-11T19:37:56.2270000Z</dcterms:modified>
</coreProperties>
</file>